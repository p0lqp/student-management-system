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indent="0" algn="r">
              <a:buNone/>
            </a:pPr>
            <a:fld id="{BA87D15E-2EFD-4889-BC44-C7047061AF6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CB76F6-588A-4FF9-A53A-1D692484408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57D4FF-B8C7-47FD-93AD-0D0CD044753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DF135A-4291-4B31-98C7-0F66CE5132F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BE8FDB-3C57-48E3-9121-8817374FACEC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885CA1-F795-4E95-9F30-4632930D570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E7F5FF-C8CD-44A6-9CEC-B4692B26B33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E0B317-70B3-4E7A-891F-EEBCCC5E258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B44383-0905-400D-A128-70B195FCDB9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p0lqp/Student-Management-Syste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Text 2"/>
          <p:cNvSpPr/>
          <p:nvPr/>
        </p:nvSpPr>
        <p:spPr>
          <a:xfrm>
            <a:off x="658440" y="941760"/>
            <a:ext cx="6309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F8FAFC"/>
                </a:solidFill>
                <a:latin typeface="Arial"/>
                <a:ea typeface="Arial"/>
              </a:rPr>
              <a:t>Student Management System</a:t>
            </a:r>
            <a:endParaRPr lang="en-US" sz="3300" b="0" strike="noStrike" spc="-1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694800" y="15544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38BDF8"/>
                </a:solidFill>
                <a:latin typeface="Arial"/>
                <a:ea typeface="Arial"/>
              </a:rPr>
              <a:t>CS214 Project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685800" y="2039040"/>
            <a:ext cx="5394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rtl="1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CBD5E1"/>
                </a:solidFill>
                <a:latin typeface="Arial"/>
                <a:ea typeface="Arial"/>
              </a:rPr>
              <a:t>Student data management using C++ data structures</a:t>
            </a:r>
            <a:endParaRPr lang="en-US" sz="1900" b="0" strike="noStrike" spc="-1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685800" y="2697480"/>
            <a:ext cx="4389120" cy="360"/>
          </a:xfrm>
          <a:prstGeom prst="line">
            <a:avLst/>
          </a:prstGeom>
          <a:ln w="25400">
            <a:solidFill>
              <a:srgbClr val="FBBF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Text 6"/>
          <p:cNvSpPr/>
          <p:nvPr/>
        </p:nvSpPr>
        <p:spPr>
          <a:xfrm>
            <a:off x="685800" y="3182040"/>
            <a:ext cx="5211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8FAFC"/>
                </a:solidFill>
                <a:latin typeface="Arial"/>
                <a:ea typeface="Arial"/>
              </a:rPr>
              <a:t>Prepared by: Majed Tarahib Alruqi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685800" y="3566160"/>
            <a:ext cx="5211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University ID: 441109831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85800" y="3950280"/>
            <a:ext cx="5211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Section: 6013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685800" y="4334400"/>
            <a:ext cx="5211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 dirty="0">
                <a:solidFill>
                  <a:srgbClr val="CBD5E1"/>
                </a:solidFill>
                <a:latin typeface="Arial"/>
                <a:ea typeface="Arial"/>
              </a:rPr>
              <a:t>Supervised by: Dr. </a:t>
            </a:r>
            <a:r>
              <a:rPr lang="en-US" sz="1700" b="0" strike="noStrike" spc="-1" dirty="0" err="1">
                <a:solidFill>
                  <a:srgbClr val="CBD5E1"/>
                </a:solidFill>
                <a:latin typeface="Arial"/>
                <a:ea typeface="Arial"/>
              </a:rPr>
              <a:t>Osamah</a:t>
            </a:r>
            <a:r>
              <a:rPr lang="en-US" sz="1700" b="0" strike="noStrike" spc="-1" dirty="0">
                <a:solidFill>
                  <a:srgbClr val="CBD5E1"/>
                </a:solidFill>
                <a:latin typeface="Arial"/>
                <a:ea typeface="Arial"/>
              </a:rPr>
              <a:t> </a:t>
            </a:r>
            <a:r>
              <a:rPr lang="en-US" sz="1700" b="0" strike="noStrike" spc="-1" dirty="0" err="1">
                <a:solidFill>
                  <a:srgbClr val="CBD5E1"/>
                </a:solidFill>
                <a:latin typeface="Arial"/>
                <a:ea typeface="Arial"/>
              </a:rPr>
              <a:t>Alzakan</a:t>
            </a:r>
            <a:endParaRPr lang="en-US" sz="1700" b="0" strike="noStrike" spc="-1" dirty="0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7178040" y="658440"/>
            <a:ext cx="3977280" cy="5257440"/>
          </a:xfrm>
          <a:prstGeom prst="roundRect">
            <a:avLst>
              <a:gd name="adj" fmla="val 920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5" name="Image 0" descr="/mnt/data/Add.png"/>
          <p:cNvPicPr/>
          <p:nvPr/>
        </p:nvPicPr>
        <p:blipFill>
          <a:blip r:embed="rId3"/>
          <a:stretch/>
        </p:blipFill>
        <p:spPr>
          <a:xfrm>
            <a:off x="7458840" y="731520"/>
            <a:ext cx="3415680" cy="5111280"/>
          </a:xfrm>
          <a:prstGeom prst="rect">
            <a:avLst/>
          </a:prstGeom>
          <a:ln w="0">
            <a:noFill/>
          </a:ln>
        </p:spPr>
      </p:pic>
      <p:sp>
        <p:nvSpPr>
          <p:cNvPr id="56" name="Text 11"/>
          <p:cNvSpPr/>
          <p:nvPr/>
        </p:nvSpPr>
        <p:spPr>
          <a:xfrm>
            <a:off x="685800" y="5760720"/>
            <a:ext cx="5714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 dirty="0">
                <a:solidFill>
                  <a:srgbClr val="38BDF8"/>
                </a:solidFill>
                <a:latin typeface="Arial"/>
                <a:ea typeface="Arial"/>
              </a:rPr>
              <a:t>Linked List  •  Stack  •  Hash Table  •  File </a:t>
            </a:r>
            <a:r>
              <a:rPr lang="en-US" sz="1400" b="1" strike="noStrike" spc="-1" dirty="0" smtClean="0">
                <a:solidFill>
                  <a:srgbClr val="38BDF8"/>
                </a:solidFill>
                <a:latin typeface="Arial"/>
                <a:ea typeface="Arial"/>
              </a:rPr>
              <a:t>Handling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1/8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0501" y="4774871"/>
            <a:ext cx="2143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/>
                </a:solidFill>
                <a:hlinkClick r:id="rId4"/>
              </a:rPr>
              <a:t>GITHUB REPOSITORY</a:t>
            </a:r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Text 2"/>
          <p:cNvSpPr/>
          <p:nvPr/>
        </p:nvSpPr>
        <p:spPr>
          <a:xfrm>
            <a:off x="502920" y="23760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strike="noStrike" spc="-1">
                <a:solidFill>
                  <a:srgbClr val="F8FAFC"/>
                </a:solidFill>
                <a:latin typeface="Arial"/>
                <a:ea typeface="Arial"/>
              </a:rPr>
              <a:t>System Overview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6080760" y="65844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BD5E1"/>
                </a:solidFill>
                <a:latin typeface="Arial"/>
                <a:ea typeface="Arial"/>
              </a:rPr>
              <a:t>Main Features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502920" y="960120"/>
            <a:ext cx="11155680" cy="360"/>
          </a:xfrm>
          <a:prstGeom prst="line">
            <a:avLst/>
          </a:prstGeom>
          <a:ln w="13970">
            <a:solidFill>
              <a:srgbClr val="38BDF8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Text 5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2/8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9372600" y="11430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rtl="1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FBBF24"/>
                </a:solidFill>
                <a:latin typeface="Arial"/>
                <a:ea typeface="Arial"/>
              </a:rPr>
              <a:t>Goal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6263640" y="1627560"/>
            <a:ext cx="49374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9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F8FAFC"/>
                </a:solidFill>
                <a:latin typeface="Arial"/>
                <a:ea typeface="Arial"/>
              </a:rPr>
              <a:t>Build a simple C++ program to manage student records in memory and save them to a file when exiting.</a:t>
            </a:r>
            <a:endParaRPr lang="en-US" sz="1900" b="0" strike="noStrike" spc="-1"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640080" y="1234440"/>
            <a:ext cx="3794400" cy="2468520"/>
          </a:xfrm>
          <a:prstGeom prst="roundRect">
            <a:avLst>
              <a:gd name="adj" fmla="val 1481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9" name="Image 0" descr="/mnt/data/Print_All_Data.png"/>
          <p:cNvPicPr/>
          <p:nvPr/>
        </p:nvPicPr>
        <p:blipFill>
          <a:blip r:embed="rId3"/>
          <a:stretch/>
        </p:blipFill>
        <p:spPr>
          <a:xfrm>
            <a:off x="1054080" y="1307520"/>
            <a:ext cx="2966400" cy="2322360"/>
          </a:xfrm>
          <a:prstGeom prst="rect">
            <a:avLst/>
          </a:prstGeom>
          <a:ln w="0">
            <a:noFill/>
          </a:ln>
        </p:spPr>
      </p:pic>
      <p:sp>
        <p:nvSpPr>
          <p:cNvPr id="70" name="Shape 10"/>
          <p:cNvSpPr/>
          <p:nvPr/>
        </p:nvSpPr>
        <p:spPr>
          <a:xfrm>
            <a:off x="5029200" y="3319200"/>
            <a:ext cx="1737000" cy="173700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Text 11"/>
          <p:cNvSpPr/>
          <p:nvPr/>
        </p:nvSpPr>
        <p:spPr>
          <a:xfrm>
            <a:off x="5212080" y="38494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8FAFC"/>
                </a:solidFill>
                <a:latin typeface="Arial"/>
                <a:ea typeface="Arial"/>
              </a:rPr>
              <a:t>Student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8FAFC"/>
                </a:solidFill>
                <a:latin typeface="Arial"/>
                <a:ea typeface="Arial"/>
              </a:rPr>
              <a:t>Record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8366760" y="3931920"/>
            <a:ext cx="2468520" cy="411120"/>
          </a:xfrm>
          <a:prstGeom prst="roundRect">
            <a:avLst>
              <a:gd name="adj" fmla="val 17778"/>
            </a:avLst>
          </a:prstGeom>
          <a:solidFill>
            <a:srgbClr val="172033"/>
          </a:solidFill>
          <a:ln w="1524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8FAFC"/>
                </a:solidFill>
                <a:latin typeface="Arial"/>
                <a:ea typeface="Arial"/>
              </a:rPr>
              <a:t>Add / Edit / Delete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8366760" y="4883040"/>
            <a:ext cx="2331360" cy="411120"/>
          </a:xfrm>
          <a:prstGeom prst="roundRect">
            <a:avLst>
              <a:gd name="adj" fmla="val 17778"/>
            </a:avLst>
          </a:prstGeom>
          <a:solidFill>
            <a:srgbClr val="172033"/>
          </a:solidFill>
          <a:ln w="1524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8FAFC"/>
                </a:solidFill>
                <a:latin typeface="Arial"/>
                <a:ea typeface="Arial"/>
              </a:rPr>
              <a:t>Fast ID Search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1234440" y="4883040"/>
            <a:ext cx="2605680" cy="411120"/>
          </a:xfrm>
          <a:prstGeom prst="roundRect">
            <a:avLst>
              <a:gd name="adj" fmla="val 17778"/>
            </a:avLst>
          </a:prstGeom>
          <a:solidFill>
            <a:srgbClr val="172033"/>
          </a:solidFill>
          <a:ln w="1524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8FAFC"/>
                </a:solidFill>
                <a:latin typeface="Arial"/>
                <a:ea typeface="Arial"/>
              </a:rPr>
              <a:t>Recent History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1051560" y="3931920"/>
            <a:ext cx="2788560" cy="411120"/>
          </a:xfrm>
          <a:prstGeom prst="roundRect">
            <a:avLst>
              <a:gd name="adj" fmla="val 17778"/>
            </a:avLst>
          </a:prstGeom>
          <a:solidFill>
            <a:srgbClr val="172033"/>
          </a:solidFill>
          <a:ln w="15240">
            <a:solidFill>
              <a:srgbClr val="FBBF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8FAFC"/>
                </a:solidFill>
                <a:latin typeface="Arial"/>
                <a:ea typeface="Arial"/>
              </a:rPr>
              <a:t>File Save / Load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7328880" y="396396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2C55E"/>
                </a:solidFill>
                <a:latin typeface="Arial"/>
                <a:ea typeface="Arial"/>
              </a:rPr>
              <a:t>→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4640760" y="396396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BBF24"/>
                </a:solidFill>
                <a:latin typeface="Arial"/>
                <a:ea typeface="Arial"/>
              </a:rPr>
              <a:t>←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6903720" y="2541960"/>
            <a:ext cx="4160160" cy="11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 fontScale="97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20" b="0" strike="noStrike" spc="-1">
                <a:solidFill>
                  <a:srgbClr val="CBD5E1"/>
                </a:solidFill>
                <a:latin typeface="Arial"/>
                <a:ea typeface="Arial"/>
              </a:rPr>
              <a:t>• Add a new student</a:t>
            </a:r>
            <a:endParaRPr lang="en-US" sz="152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20" b="0" strike="noStrike" spc="-1">
                <a:solidFill>
                  <a:srgbClr val="CBD5E1"/>
                </a:solidFill>
                <a:latin typeface="Arial"/>
                <a:ea typeface="Arial"/>
              </a:rPr>
              <a:t>• Print all students</a:t>
            </a:r>
            <a:endParaRPr lang="en-US" sz="152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20" b="0" strike="noStrike" spc="-1">
                <a:solidFill>
                  <a:srgbClr val="CBD5E1"/>
                </a:solidFill>
                <a:latin typeface="Arial"/>
                <a:ea typeface="Arial"/>
              </a:rPr>
              <a:t>• Search by university ID</a:t>
            </a:r>
            <a:endParaRPr lang="en-US" sz="152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20" b="0" strike="noStrike" spc="-1">
                <a:solidFill>
                  <a:srgbClr val="CBD5E1"/>
                </a:solidFill>
                <a:latin typeface="Arial"/>
                <a:ea typeface="Arial"/>
              </a:rPr>
              <a:t>• Edit or delete a student</a:t>
            </a:r>
            <a:endParaRPr lang="en-US" sz="152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20" b="0" strike="noStrike" spc="-1">
                <a:solidFill>
                  <a:srgbClr val="CBD5E1"/>
                </a:solidFill>
                <a:latin typeface="Arial"/>
                <a:ea typeface="Arial"/>
              </a:rPr>
              <a:t>• View history, then save and exit</a:t>
            </a:r>
            <a:endParaRPr lang="en-US" sz="152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" name="Text 2"/>
          <p:cNvSpPr/>
          <p:nvPr/>
        </p:nvSpPr>
        <p:spPr>
          <a:xfrm>
            <a:off x="502920" y="23760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strike="noStrike" spc="-1">
                <a:solidFill>
                  <a:srgbClr val="F8FAFC"/>
                </a:solidFill>
                <a:latin typeface="Arial"/>
                <a:ea typeface="Arial"/>
              </a:rPr>
              <a:t>Program Flowchart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6080760" y="65844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BD5E1"/>
                </a:solidFill>
                <a:latin typeface="Arial"/>
                <a:ea typeface="Arial"/>
              </a:rPr>
              <a:t>Program Execution Flow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502920" y="960120"/>
            <a:ext cx="11155680" cy="360"/>
          </a:xfrm>
          <a:prstGeom prst="line">
            <a:avLst/>
          </a:prstGeom>
          <a:ln w="13970">
            <a:solidFill>
              <a:srgbClr val="38BDF8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Text 5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3/8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754880" y="987480"/>
            <a:ext cx="2468520" cy="658080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905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8FAFC"/>
                </a:solidFill>
                <a:latin typeface="Arial"/>
                <a:ea typeface="Arial"/>
              </a:rPr>
              <a:t>Start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4572000" y="1965960"/>
            <a:ext cx="2834280" cy="71280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905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8FAFC"/>
                </a:solidFill>
                <a:latin typeface="Arial"/>
                <a:ea typeface="Arial"/>
              </a:rPr>
              <a:t>Load data.txt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4572000" y="3154680"/>
            <a:ext cx="2834280" cy="71280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905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8FAFC"/>
                </a:solidFill>
                <a:latin typeface="Arial"/>
                <a:ea typeface="Arial"/>
              </a:rPr>
              <a:t>Main Menu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4892040" y="3895200"/>
            <a:ext cx="2194200" cy="840960"/>
          </a:xfrm>
          <a:prstGeom prst="diamond">
            <a:avLst/>
          </a:prstGeom>
          <a:solidFill>
            <a:srgbClr val="172033"/>
          </a:solidFill>
          <a:ln w="1905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8FAFC"/>
                </a:solidFill>
                <a:latin typeface="Arial"/>
                <a:ea typeface="Arial"/>
              </a:rPr>
              <a:t>User Choice?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1783080" y="5148000"/>
            <a:ext cx="2559960" cy="74952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1905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20" b="1" strike="noStrike" spc="-1">
                <a:solidFill>
                  <a:srgbClr val="F8FAFC"/>
                </a:solidFill>
                <a:latin typeface="Arial"/>
                <a:ea typeface="Arial"/>
              </a:rPr>
              <a:t>1–5</a:t>
            </a:r>
            <a:endParaRPr lang="en-US" sz="122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20" b="1" strike="noStrike" spc="-1">
                <a:solidFill>
                  <a:srgbClr val="F8FAFC"/>
                </a:solidFill>
                <a:latin typeface="Arial"/>
                <a:ea typeface="Arial"/>
              </a:rPr>
              <a:t>Run Operation</a:t>
            </a:r>
            <a:endParaRPr lang="en-US" sz="122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20" b="1" strike="noStrike" spc="-1">
                <a:solidFill>
                  <a:srgbClr val="F8FAFC"/>
                </a:solidFill>
                <a:latin typeface="Arial"/>
                <a:ea typeface="Arial"/>
              </a:rPr>
              <a:t>+ Update History</a:t>
            </a:r>
            <a:endParaRPr lang="en-US" sz="1220" b="0" strike="noStrike" spc="-1"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4709160" y="5148000"/>
            <a:ext cx="2559960" cy="74952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190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8FAFC"/>
                </a:solidFill>
                <a:latin typeface="Arial"/>
                <a:ea typeface="Arial"/>
              </a:rPr>
              <a:t>6</a:t>
            </a:r>
            <a:endParaRPr lang="en-US" sz="12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8FAFC"/>
                </a:solidFill>
                <a:latin typeface="Arial"/>
                <a:ea typeface="Arial"/>
              </a:rPr>
              <a:t>View Recent</a:t>
            </a:r>
            <a:endParaRPr lang="en-US" sz="12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8FAFC"/>
                </a:solidFill>
                <a:latin typeface="Arial"/>
                <a:ea typeface="Arial"/>
              </a:rPr>
              <a:t>History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7635240" y="5148000"/>
            <a:ext cx="2559960" cy="74952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19050">
            <a:solidFill>
              <a:srgbClr val="FBBF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20" b="1" strike="noStrike" spc="-1">
                <a:solidFill>
                  <a:srgbClr val="F8FAFC"/>
                </a:solidFill>
                <a:latin typeface="Arial"/>
                <a:ea typeface="Arial"/>
              </a:rPr>
              <a:t>7</a:t>
            </a:r>
            <a:endParaRPr lang="en-US" sz="122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20" b="1" strike="noStrike" spc="-1">
                <a:solidFill>
                  <a:srgbClr val="F8FAFC"/>
                </a:solidFill>
                <a:latin typeface="Arial"/>
                <a:ea typeface="Arial"/>
              </a:rPr>
              <a:t>Save &amp; Exit</a:t>
            </a:r>
            <a:endParaRPr lang="en-US" sz="1220" b="0" strike="noStrike" spc="-1"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3520440" y="6099120"/>
            <a:ext cx="5074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75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64748B"/>
                </a:solidFill>
                <a:latin typeface="Arial"/>
                <a:ea typeface="Arial"/>
              </a:rPr>
              <a:t>After each operation, the program returns to the menu until the user selects Save and Exit.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731520" y="1225440"/>
            <a:ext cx="34743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r" rtl="1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The program starts by reading the file, then keeps showing the menu until the user chooses to save and exit.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8915400" y="1298520"/>
            <a:ext cx="2605680" cy="1992960"/>
          </a:xfrm>
          <a:prstGeom prst="roundRect">
            <a:avLst>
              <a:gd name="adj" fmla="val 1835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96" name="Image 0" descr="/mnt/data/Save&amp;Exit.png"/>
          <p:cNvPicPr/>
          <p:nvPr/>
        </p:nvPicPr>
        <p:blipFill>
          <a:blip r:embed="rId3"/>
          <a:stretch/>
        </p:blipFill>
        <p:spPr>
          <a:xfrm>
            <a:off x="9021600" y="1371600"/>
            <a:ext cx="2393640" cy="1846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8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Text 2"/>
          <p:cNvSpPr/>
          <p:nvPr/>
        </p:nvSpPr>
        <p:spPr>
          <a:xfrm>
            <a:off x="502920" y="23760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strike="noStrike" spc="-1">
                <a:solidFill>
                  <a:srgbClr val="F8FAFC"/>
                </a:solidFill>
                <a:latin typeface="Arial"/>
                <a:ea typeface="Arial"/>
              </a:rPr>
              <a:t>Linked List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6080760" y="65844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BD5E1"/>
                </a:solidFill>
                <a:latin typeface="Arial"/>
                <a:ea typeface="Arial"/>
              </a:rPr>
              <a:t>Dynamic Student Storage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502920" y="960120"/>
            <a:ext cx="11155680" cy="360"/>
          </a:xfrm>
          <a:prstGeom prst="line">
            <a:avLst/>
          </a:prstGeom>
          <a:ln w="13970">
            <a:solidFill>
              <a:srgbClr val="38BDF8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Text 5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4/8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412480" y="123444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rtl="1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FBBF24"/>
                </a:solidFill>
                <a:latin typeface="Arial"/>
                <a:ea typeface="Arial"/>
              </a:rPr>
              <a:t>Usage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6035040" y="1691640"/>
            <a:ext cx="516600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CBD5E1"/>
                </a:solidFill>
                <a:latin typeface="Arial"/>
                <a:ea typeface="Arial"/>
              </a:rPr>
              <a:t>• Stores student records in memory.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CBD5E1"/>
                </a:solidFill>
                <a:latin typeface="Arial"/>
                <a:ea typeface="Arial"/>
              </a:rPr>
              <a:t>• Each node contains ID, Name, and GPA.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CBD5E1"/>
                </a:solidFill>
                <a:latin typeface="Arial"/>
                <a:ea typeface="Arial"/>
              </a:rPr>
              <a:t>• Adding and deleting students does not require a fixed size.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3136320" y="416052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8BDF8"/>
                </a:solidFill>
                <a:latin typeface="Arial"/>
                <a:ea typeface="Arial"/>
              </a:rPr>
              <a:t>→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221080" y="416052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8BDF8"/>
                </a:solidFill>
                <a:latin typeface="Arial"/>
                <a:ea typeface="Arial"/>
              </a:rPr>
              <a:t>→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7324200" y="4160520"/>
            <a:ext cx="145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8BDF8"/>
                </a:solidFill>
                <a:latin typeface="Arial"/>
                <a:ea typeface="Arial"/>
              </a:rPr>
              <a:t>→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1078920" y="40417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8BDF8"/>
                </a:solidFill>
                <a:latin typeface="Consolas"/>
                <a:ea typeface="Consolas"/>
              </a:rPr>
              <a:t>head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1965960" y="3886200"/>
            <a:ext cx="1005480" cy="71280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905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ID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Name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GPA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4050720" y="3886200"/>
            <a:ext cx="1005480" cy="71280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905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ID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Name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GPA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6144840" y="3886200"/>
            <a:ext cx="1005480" cy="71280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1905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ID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Name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8FAFC"/>
                </a:solidFill>
                <a:latin typeface="Arial"/>
                <a:ea typeface="Arial"/>
              </a:rPr>
              <a:t>GPA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8156520" y="3922920"/>
            <a:ext cx="987120" cy="63972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1905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8FAFC"/>
                </a:solidFill>
                <a:latin typeface="Arial"/>
                <a:ea typeface="Arial"/>
              </a:rPr>
              <a:t>NULL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685800" y="1234440"/>
            <a:ext cx="2286000" cy="2029680"/>
          </a:xfrm>
          <a:prstGeom prst="roundRect">
            <a:avLst>
              <a:gd name="adj" fmla="val 2252"/>
            </a:avLst>
          </a:prstGeom>
          <a:solidFill>
            <a:srgbClr val="020617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8F0"/>
                </a:solidFill>
                <a:latin typeface="Consolas"/>
                <a:ea typeface="Consolas"/>
              </a:rPr>
              <a:t>struct Node {</a:t>
            </a:r>
            <a:endParaRPr lang="en-US" sz="13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8F0"/>
                </a:solidFill>
                <a:latin typeface="Consolas"/>
                <a:ea typeface="Consolas"/>
              </a:rPr>
              <a:t>    Student data;</a:t>
            </a:r>
            <a:endParaRPr lang="en-US" sz="13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8F0"/>
                </a:solidFill>
                <a:latin typeface="Consolas"/>
                <a:ea typeface="Consolas"/>
              </a:rPr>
              <a:t>    Node* next;</a:t>
            </a:r>
            <a:endParaRPr lang="en-US" sz="13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8F0"/>
                </a:solidFill>
                <a:latin typeface="Consolas"/>
                <a:ea typeface="Consolas"/>
              </a:rPr>
              <a:t>};</a:t>
            </a:r>
            <a:endParaRPr lang="en-US" sz="13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3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2E8F0"/>
                </a:solidFill>
                <a:latin typeface="Consolas"/>
                <a:ea typeface="Consolas"/>
              </a:rPr>
              <a:t>Node* head = NULL;</a:t>
            </a:r>
            <a:endParaRPr lang="en-US" sz="1350" b="0" strike="noStrike" spc="-1"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8275320" y="499248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rtl="1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38BDF8"/>
                </a:solidFill>
                <a:latin typeface="Arial"/>
                <a:ea typeface="Arial"/>
              </a:rPr>
              <a:t>Why We Chose It</a:t>
            </a:r>
            <a:endParaRPr lang="en-US" sz="2100" b="0" strike="noStrike" spc="-1"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6080760" y="537660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1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strike="noStrike" spc="-1">
                <a:solidFill>
                  <a:srgbClr val="CBD5E1"/>
                </a:solidFill>
                <a:latin typeface="Arial"/>
                <a:ea typeface="Arial"/>
              </a:rPr>
              <a:t>A linked list is suitable when the number of students changes during runtime, so it is more flexible than a fixed array for this project.</a:t>
            </a:r>
            <a:endParaRPr lang="en-US" sz="165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Text 2"/>
          <p:cNvSpPr/>
          <p:nvPr/>
        </p:nvSpPr>
        <p:spPr>
          <a:xfrm>
            <a:off x="502920" y="23760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strike="noStrike" spc="-1">
                <a:solidFill>
                  <a:srgbClr val="F8FAFC"/>
                </a:solidFill>
                <a:latin typeface="Arial"/>
                <a:ea typeface="Arial"/>
              </a:rPr>
              <a:t>Stack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6080760" y="65844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BD5E1"/>
                </a:solidFill>
                <a:latin typeface="Arial"/>
                <a:ea typeface="Arial"/>
              </a:rPr>
              <a:t>Operation History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502920" y="960120"/>
            <a:ext cx="11155680" cy="360"/>
          </a:xfrm>
          <a:prstGeom prst="line">
            <a:avLst/>
          </a:prstGeom>
          <a:ln w="13970">
            <a:solidFill>
              <a:srgbClr val="38BDF8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Text 5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5/8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685800" y="1170360"/>
            <a:ext cx="3794400" cy="2788560"/>
          </a:xfrm>
          <a:prstGeom prst="roundRect">
            <a:avLst>
              <a:gd name="adj" fmla="val 1311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25" name="Image 0" descr="/mnt/data/View_History.png"/>
          <p:cNvPicPr/>
          <p:nvPr/>
        </p:nvPicPr>
        <p:blipFill>
          <a:blip r:embed="rId3"/>
          <a:stretch/>
        </p:blipFill>
        <p:spPr>
          <a:xfrm>
            <a:off x="956160" y="1243440"/>
            <a:ext cx="3253680" cy="2642400"/>
          </a:xfrm>
          <a:prstGeom prst="rect">
            <a:avLst/>
          </a:prstGeom>
          <a:ln w="0">
            <a:noFill/>
          </a:ln>
        </p:spPr>
      </p:pic>
      <p:sp>
        <p:nvSpPr>
          <p:cNvPr id="126" name="Text 8"/>
          <p:cNvSpPr/>
          <p:nvPr/>
        </p:nvSpPr>
        <p:spPr>
          <a:xfrm>
            <a:off x="5010840" y="114300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BBF24"/>
                </a:solidFill>
                <a:latin typeface="Arial"/>
                <a:ea typeface="Arial"/>
              </a:rPr>
              <a:t>LIFO</a:t>
            </a:r>
            <a:endParaRPr lang="en-US" sz="3100" b="0" strike="noStrike" spc="-1"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4754880" y="171000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BD5E1"/>
                </a:solidFill>
                <a:latin typeface="Arial"/>
                <a:ea typeface="Arial"/>
              </a:rPr>
              <a:t>Last-In, First-Out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4892040" y="2331720"/>
            <a:ext cx="2331360" cy="502560"/>
          </a:xfrm>
          <a:prstGeom prst="roundRect">
            <a:avLst>
              <a:gd name="adj" fmla="val 14545"/>
            </a:avLst>
          </a:prstGeom>
          <a:solidFill>
            <a:srgbClr val="172033"/>
          </a:solidFill>
          <a:ln w="190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8FAFC"/>
                </a:solidFill>
                <a:latin typeface="Arial"/>
                <a:ea typeface="Arial"/>
              </a:rPr>
              <a:t>Edited ID: 4411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4892040" y="2953440"/>
            <a:ext cx="2331360" cy="502560"/>
          </a:xfrm>
          <a:prstGeom prst="roundRect">
            <a:avLst>
              <a:gd name="adj" fmla="val 14545"/>
            </a:avLst>
          </a:prstGeom>
          <a:solidFill>
            <a:srgbClr val="172033"/>
          </a:solidFill>
          <a:ln w="190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8FAFC"/>
                </a:solidFill>
                <a:latin typeface="Arial"/>
                <a:ea typeface="Arial"/>
              </a:rPr>
              <a:t>Added: Majed Alruqi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4892040" y="3575160"/>
            <a:ext cx="2331360" cy="502560"/>
          </a:xfrm>
          <a:prstGeom prst="roundRect">
            <a:avLst>
              <a:gd name="adj" fmla="val 14545"/>
            </a:avLst>
          </a:prstGeom>
          <a:solidFill>
            <a:srgbClr val="172033"/>
          </a:solidFill>
          <a:ln w="19050">
            <a:solidFill>
              <a:srgbClr val="6474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8FAFC"/>
                </a:solidFill>
                <a:latin typeface="Arial"/>
                <a:ea typeface="Arial"/>
              </a:rPr>
              <a:t>Previous operation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7726680" y="1298520"/>
            <a:ext cx="3337200" cy="18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• Stores recent operations such as add, edit, and delete.</a:t>
            </a:r>
            <a:endParaRPr lang="en-US" sz="17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• Shows the latest operation first when View History is selected.</a:t>
            </a:r>
            <a:endParaRPr lang="en-US" sz="17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• Simple design with fast access to the most recent item.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7360920" y="3703320"/>
            <a:ext cx="3885840" cy="2057040"/>
          </a:xfrm>
          <a:prstGeom prst="roundRect">
            <a:avLst>
              <a:gd name="adj" fmla="val 2222"/>
            </a:avLst>
          </a:prstGeom>
          <a:solidFill>
            <a:srgbClr val="020617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40" b="0" strike="noStrike" spc="-1">
                <a:solidFill>
                  <a:srgbClr val="E2E8F0"/>
                </a:solidFill>
                <a:latin typeface="Consolas"/>
                <a:ea typeface="Consolas"/>
              </a:rPr>
              <a:t>struct MyStack {</a:t>
            </a:r>
            <a:endParaRPr lang="en-US" sz="114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40" b="0" strike="noStrike" spc="-1">
                <a:solidFill>
                  <a:srgbClr val="E2E8F0"/>
                </a:solidFill>
                <a:latin typeface="Consolas"/>
                <a:ea typeface="Consolas"/>
              </a:rPr>
              <a:t>    string arr[10];</a:t>
            </a:r>
            <a:endParaRPr lang="en-US" sz="114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40" b="0" strike="noStrike" spc="-1">
                <a:solidFill>
                  <a:srgbClr val="E2E8F0"/>
                </a:solidFill>
                <a:latin typeface="Consolas"/>
                <a:ea typeface="Consolas"/>
              </a:rPr>
              <a:t>    int top = -1;</a:t>
            </a:r>
            <a:endParaRPr lang="en-US" sz="114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14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40" b="0" strike="noStrike" spc="-1">
                <a:solidFill>
                  <a:srgbClr val="E2E8F0"/>
                </a:solidFill>
                <a:latin typeface="Consolas"/>
                <a:ea typeface="Consolas"/>
              </a:rPr>
              <a:t>    void push(string msg) {</a:t>
            </a:r>
            <a:endParaRPr lang="en-US" sz="114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40" b="0" strike="noStrike" spc="-1">
                <a:solidFill>
                  <a:srgbClr val="E2E8F0"/>
                </a:solidFill>
                <a:latin typeface="Consolas"/>
                <a:ea typeface="Consolas"/>
              </a:rPr>
              <a:t>        if (top &lt; 9) arr[++top] = msg;</a:t>
            </a:r>
            <a:endParaRPr lang="en-US" sz="114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40" b="0" strike="noStrike" spc="-1">
                <a:solidFill>
                  <a:srgbClr val="E2E8F0"/>
                </a:solidFill>
                <a:latin typeface="Consolas"/>
                <a:ea typeface="Consolas"/>
              </a:rPr>
              <a:t>    }</a:t>
            </a:r>
            <a:endParaRPr lang="en-US" sz="114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40" b="0" strike="noStrike" spc="-1">
                <a:solidFill>
                  <a:srgbClr val="E2E8F0"/>
                </a:solidFill>
                <a:latin typeface="Consolas"/>
                <a:ea typeface="Consolas"/>
              </a:rPr>
              <a:t>};</a:t>
            </a:r>
            <a:endParaRPr lang="en-US" sz="114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720" y="36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Text 2"/>
          <p:cNvSpPr/>
          <p:nvPr/>
        </p:nvSpPr>
        <p:spPr>
          <a:xfrm>
            <a:off x="502920" y="23760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strike="noStrike" spc="-1">
                <a:solidFill>
                  <a:srgbClr val="F8FAFC"/>
                </a:solidFill>
                <a:latin typeface="Arial"/>
                <a:ea typeface="Arial"/>
              </a:rPr>
              <a:t>Hash Table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6080760" y="65844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BD5E1"/>
                </a:solidFill>
                <a:latin typeface="Arial"/>
                <a:ea typeface="Arial"/>
              </a:rPr>
              <a:t>Fast Search by ID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502920" y="960120"/>
            <a:ext cx="11155680" cy="360"/>
          </a:xfrm>
          <a:prstGeom prst="line">
            <a:avLst/>
          </a:prstGeom>
          <a:ln w="13970">
            <a:solidFill>
              <a:srgbClr val="38BDF8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" name="Text 5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6/8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7543800" y="1234440"/>
            <a:ext cx="3428640" cy="2422800"/>
          </a:xfrm>
          <a:prstGeom prst="roundRect">
            <a:avLst>
              <a:gd name="adj" fmla="val 1509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41" name="Image 0" descr="/mnt/data/Search.png"/>
          <p:cNvPicPr/>
          <p:nvPr/>
        </p:nvPicPr>
        <p:blipFill>
          <a:blip r:embed="rId3"/>
          <a:stretch/>
        </p:blipFill>
        <p:spPr>
          <a:xfrm>
            <a:off x="7842240" y="1307520"/>
            <a:ext cx="2831760" cy="2276640"/>
          </a:xfrm>
          <a:prstGeom prst="rect">
            <a:avLst/>
          </a:prstGeom>
          <a:ln w="0">
            <a:noFill/>
          </a:ln>
        </p:spPr>
      </p:pic>
      <p:sp>
        <p:nvSpPr>
          <p:cNvPr id="142" name="Text 8"/>
          <p:cNvSpPr/>
          <p:nvPr/>
        </p:nvSpPr>
        <p:spPr>
          <a:xfrm>
            <a:off x="5532120" y="17647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rtl="1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FBBF24"/>
                </a:solidFill>
                <a:latin typeface="Arial"/>
                <a:ea typeface="Arial"/>
              </a:rPr>
              <a:t>Idea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960120" y="1234440"/>
            <a:ext cx="5440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3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Convert the university ID into an index in a fixed table using: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1993320" y="1947600"/>
            <a:ext cx="2350080" cy="658080"/>
          </a:xfrm>
          <a:prstGeom prst="roundRect">
            <a:avLst>
              <a:gd name="adj" fmla="val 6944"/>
            </a:avLst>
          </a:prstGeom>
          <a:solidFill>
            <a:srgbClr val="020617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E2E8F0"/>
                </a:solidFill>
                <a:latin typeface="Consolas"/>
                <a:ea typeface="Consolas"/>
              </a:rPr>
              <a:t>index = id % 20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64008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Text 12"/>
          <p:cNvSpPr/>
          <p:nvPr/>
        </p:nvSpPr>
        <p:spPr>
          <a:xfrm>
            <a:off x="64008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0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122544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Text 14"/>
          <p:cNvSpPr/>
          <p:nvPr/>
        </p:nvSpPr>
        <p:spPr>
          <a:xfrm>
            <a:off x="122544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49" name="Shape 15"/>
          <p:cNvSpPr/>
          <p:nvPr/>
        </p:nvSpPr>
        <p:spPr>
          <a:xfrm>
            <a:off x="181044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0" name="Text 16"/>
          <p:cNvSpPr/>
          <p:nvPr/>
        </p:nvSpPr>
        <p:spPr>
          <a:xfrm>
            <a:off x="181044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2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51" name="Shape 17"/>
          <p:cNvSpPr/>
          <p:nvPr/>
        </p:nvSpPr>
        <p:spPr>
          <a:xfrm>
            <a:off x="239580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Text 18"/>
          <p:cNvSpPr/>
          <p:nvPr/>
        </p:nvSpPr>
        <p:spPr>
          <a:xfrm>
            <a:off x="239580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3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53" name="Shape 19"/>
          <p:cNvSpPr/>
          <p:nvPr/>
        </p:nvSpPr>
        <p:spPr>
          <a:xfrm>
            <a:off x="298080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Text 20"/>
          <p:cNvSpPr/>
          <p:nvPr/>
        </p:nvSpPr>
        <p:spPr>
          <a:xfrm>
            <a:off x="298080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4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55" name="Shape 21"/>
          <p:cNvSpPr/>
          <p:nvPr/>
        </p:nvSpPr>
        <p:spPr>
          <a:xfrm>
            <a:off x="356616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Text 22"/>
          <p:cNvSpPr/>
          <p:nvPr/>
        </p:nvSpPr>
        <p:spPr>
          <a:xfrm>
            <a:off x="356616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5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57" name="Shape 23"/>
          <p:cNvSpPr/>
          <p:nvPr/>
        </p:nvSpPr>
        <p:spPr>
          <a:xfrm>
            <a:off x="415152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Text 24"/>
          <p:cNvSpPr/>
          <p:nvPr/>
        </p:nvSpPr>
        <p:spPr>
          <a:xfrm>
            <a:off x="415152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6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59" name="Shape 25"/>
          <p:cNvSpPr/>
          <p:nvPr/>
        </p:nvSpPr>
        <p:spPr>
          <a:xfrm>
            <a:off x="473652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Text 26"/>
          <p:cNvSpPr/>
          <p:nvPr/>
        </p:nvSpPr>
        <p:spPr>
          <a:xfrm>
            <a:off x="473652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7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532188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Text 28"/>
          <p:cNvSpPr/>
          <p:nvPr/>
        </p:nvSpPr>
        <p:spPr>
          <a:xfrm>
            <a:off x="532188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8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63" name="Shape 29"/>
          <p:cNvSpPr/>
          <p:nvPr/>
        </p:nvSpPr>
        <p:spPr>
          <a:xfrm>
            <a:off x="5906880" y="306324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Text 30"/>
          <p:cNvSpPr/>
          <p:nvPr/>
        </p:nvSpPr>
        <p:spPr>
          <a:xfrm>
            <a:off x="5906880" y="322776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9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65" name="Shape 31"/>
          <p:cNvSpPr/>
          <p:nvPr/>
        </p:nvSpPr>
        <p:spPr>
          <a:xfrm>
            <a:off x="64008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Text 32"/>
          <p:cNvSpPr/>
          <p:nvPr/>
        </p:nvSpPr>
        <p:spPr>
          <a:xfrm>
            <a:off x="64008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10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67" name="Shape 33"/>
          <p:cNvSpPr/>
          <p:nvPr/>
        </p:nvSpPr>
        <p:spPr>
          <a:xfrm>
            <a:off x="122544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64E63"/>
          </a:solidFill>
          <a:ln w="1270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Text 34"/>
          <p:cNvSpPr/>
          <p:nvPr/>
        </p:nvSpPr>
        <p:spPr>
          <a:xfrm>
            <a:off x="122544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11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69" name="Shape 35"/>
          <p:cNvSpPr/>
          <p:nvPr/>
        </p:nvSpPr>
        <p:spPr>
          <a:xfrm>
            <a:off x="181044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64E63"/>
          </a:solidFill>
          <a:ln w="12700">
            <a:solidFill>
              <a:srgbClr val="38B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Text 36"/>
          <p:cNvSpPr/>
          <p:nvPr/>
        </p:nvSpPr>
        <p:spPr>
          <a:xfrm>
            <a:off x="181044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12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71" name="Shape 37"/>
          <p:cNvSpPr/>
          <p:nvPr/>
        </p:nvSpPr>
        <p:spPr>
          <a:xfrm>
            <a:off x="239580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2" name="Text 38"/>
          <p:cNvSpPr/>
          <p:nvPr/>
        </p:nvSpPr>
        <p:spPr>
          <a:xfrm>
            <a:off x="239580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13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73" name="Shape 39"/>
          <p:cNvSpPr/>
          <p:nvPr/>
        </p:nvSpPr>
        <p:spPr>
          <a:xfrm>
            <a:off x="298080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Text 40"/>
          <p:cNvSpPr/>
          <p:nvPr/>
        </p:nvSpPr>
        <p:spPr>
          <a:xfrm>
            <a:off x="298080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14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75" name="Shape 41"/>
          <p:cNvSpPr/>
          <p:nvPr/>
        </p:nvSpPr>
        <p:spPr>
          <a:xfrm>
            <a:off x="356616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Text 42"/>
          <p:cNvSpPr/>
          <p:nvPr/>
        </p:nvSpPr>
        <p:spPr>
          <a:xfrm>
            <a:off x="356616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15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77" name="Shape 43"/>
          <p:cNvSpPr/>
          <p:nvPr/>
        </p:nvSpPr>
        <p:spPr>
          <a:xfrm>
            <a:off x="415152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Text 44"/>
          <p:cNvSpPr/>
          <p:nvPr/>
        </p:nvSpPr>
        <p:spPr>
          <a:xfrm>
            <a:off x="415152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16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79" name="Shape 45"/>
          <p:cNvSpPr/>
          <p:nvPr/>
        </p:nvSpPr>
        <p:spPr>
          <a:xfrm>
            <a:off x="473652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Text 46"/>
          <p:cNvSpPr/>
          <p:nvPr/>
        </p:nvSpPr>
        <p:spPr>
          <a:xfrm>
            <a:off x="473652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17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81" name="Shape 47"/>
          <p:cNvSpPr/>
          <p:nvPr/>
        </p:nvSpPr>
        <p:spPr>
          <a:xfrm>
            <a:off x="532188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Text 48"/>
          <p:cNvSpPr/>
          <p:nvPr/>
        </p:nvSpPr>
        <p:spPr>
          <a:xfrm>
            <a:off x="532188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18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83" name="Shape 49"/>
          <p:cNvSpPr/>
          <p:nvPr/>
        </p:nvSpPr>
        <p:spPr>
          <a:xfrm>
            <a:off x="5906880" y="3813120"/>
            <a:ext cx="529920" cy="566640"/>
          </a:xfrm>
          <a:prstGeom prst="roundRect">
            <a:avLst>
              <a:gd name="adj" fmla="val 5172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4" name="Text 50"/>
          <p:cNvSpPr/>
          <p:nvPr/>
        </p:nvSpPr>
        <p:spPr>
          <a:xfrm>
            <a:off x="5906880" y="3977640"/>
            <a:ext cx="529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64748B"/>
                </a:solidFill>
                <a:latin typeface="Consolas"/>
                <a:ea typeface="Consolas"/>
              </a:rPr>
              <a:t>19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85" name="Text 51"/>
          <p:cNvSpPr/>
          <p:nvPr/>
        </p:nvSpPr>
        <p:spPr>
          <a:xfrm>
            <a:off x="749880" y="4736520"/>
            <a:ext cx="1993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7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38BDF8"/>
                </a:solidFill>
                <a:latin typeface="Consolas"/>
                <a:ea typeface="Consolas"/>
              </a:rPr>
              <a:t>4411 % 20 = 11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186" name="Shape 52"/>
          <p:cNvSpPr/>
          <p:nvPr/>
        </p:nvSpPr>
        <p:spPr>
          <a:xfrm flipV="1">
            <a:off x="749880" y="4361400"/>
            <a:ext cx="685800" cy="439200"/>
          </a:xfrm>
          <a:prstGeom prst="line">
            <a:avLst/>
          </a:prstGeom>
          <a:ln w="15240">
            <a:solidFill>
              <a:srgbClr val="38BDF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Text 53"/>
          <p:cNvSpPr/>
          <p:nvPr/>
        </p:nvSpPr>
        <p:spPr>
          <a:xfrm>
            <a:off x="868680" y="5321880"/>
            <a:ext cx="58060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3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strike="noStrike" spc="-1">
                <a:solidFill>
                  <a:srgbClr val="CBD5E1"/>
                </a:solidFill>
                <a:latin typeface="Arial"/>
                <a:ea typeface="Arial"/>
              </a:rPr>
              <a:t>If a collision occurs, the program moves to the next slot using Linear Probing.</a:t>
            </a:r>
            <a:endParaRPr lang="en-US" sz="1650" b="0" strike="noStrike" spc="-1">
              <a:latin typeface="Arial"/>
            </a:endParaRPr>
          </a:p>
        </p:txBody>
      </p:sp>
      <p:sp>
        <p:nvSpPr>
          <p:cNvPr id="188" name="Text 54"/>
          <p:cNvSpPr/>
          <p:nvPr/>
        </p:nvSpPr>
        <p:spPr>
          <a:xfrm>
            <a:off x="7589520" y="4892040"/>
            <a:ext cx="34286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 fontScale="91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strike="noStrike" spc="-1">
                <a:solidFill>
                  <a:srgbClr val="CBD5E1"/>
                </a:solidFill>
                <a:latin typeface="Arial"/>
                <a:ea typeface="Arial"/>
              </a:rPr>
              <a:t>• Average search time is close to O(1).</a:t>
            </a:r>
            <a:endParaRPr lang="en-US" sz="16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strike="noStrike" spc="-1">
                <a:solidFill>
                  <a:srgbClr val="CBD5E1"/>
                </a:solidFill>
                <a:latin typeface="Arial"/>
                <a:ea typeface="Arial"/>
              </a:rPr>
              <a:t>• Faster than scanning every node in the linked list.</a:t>
            </a:r>
            <a:endParaRPr lang="en-US" sz="16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strike="noStrike" spc="-1">
                <a:solidFill>
                  <a:srgbClr val="CBD5E1"/>
                </a:solidFill>
                <a:latin typeface="Arial"/>
                <a:ea typeface="Arial"/>
              </a:rPr>
              <a:t>• Suitable for searching by ID.</a:t>
            </a:r>
            <a:endParaRPr lang="en-US" sz="165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1" name="Text 2"/>
          <p:cNvSpPr/>
          <p:nvPr/>
        </p:nvSpPr>
        <p:spPr>
          <a:xfrm>
            <a:off x="502920" y="23760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strike="noStrike" spc="-1">
                <a:solidFill>
                  <a:srgbClr val="F8FAFC"/>
                </a:solidFill>
                <a:latin typeface="Arial"/>
                <a:ea typeface="Arial"/>
              </a:rPr>
              <a:t>File Handling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6080760" y="65844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BD5E1"/>
                </a:solidFill>
                <a:latin typeface="Arial"/>
                <a:ea typeface="Arial"/>
              </a:rPr>
              <a:t>Data Persistence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193" name="Shape 4"/>
          <p:cNvSpPr/>
          <p:nvPr/>
        </p:nvSpPr>
        <p:spPr>
          <a:xfrm>
            <a:off x="502920" y="960120"/>
            <a:ext cx="11155680" cy="360"/>
          </a:xfrm>
          <a:prstGeom prst="line">
            <a:avLst/>
          </a:prstGeom>
          <a:ln w="13970">
            <a:solidFill>
              <a:srgbClr val="38BDF8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Text 5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7/8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7635240" y="109728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rtl="1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FBBF24"/>
                </a:solidFill>
                <a:latin typeface="Arial"/>
                <a:ea typeface="Arial"/>
              </a:rPr>
              <a:t>Data Persistence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6035040" y="1600200"/>
            <a:ext cx="51660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• The program loads records from data.txt at startup.</a:t>
            </a:r>
            <a:endParaRPr lang="en-US" sz="17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• When Save and Exit is selected, records are saved back to the same file.</a:t>
            </a:r>
            <a:endParaRPr lang="en-US" sz="17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CBD5E1"/>
                </a:solidFill>
                <a:latin typeface="Arial"/>
                <a:ea typeface="Arial"/>
              </a:rPr>
              <a:t>• The # separator splits the name from GPA, allowing names with spaces.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777240" y="1234440"/>
            <a:ext cx="4525920" cy="1874160"/>
          </a:xfrm>
          <a:prstGeom prst="roundRect">
            <a:avLst>
              <a:gd name="adj" fmla="val 1951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99" name="Image 0" descr="/mnt/data/Data_After_Save.png"/>
          <p:cNvPicPr/>
          <p:nvPr/>
        </p:nvPicPr>
        <p:blipFill>
          <a:blip r:embed="rId3"/>
          <a:stretch/>
        </p:blipFill>
        <p:spPr>
          <a:xfrm>
            <a:off x="850320" y="1388160"/>
            <a:ext cx="4379760" cy="1566720"/>
          </a:xfrm>
          <a:prstGeom prst="rect">
            <a:avLst/>
          </a:prstGeom>
          <a:ln w="0">
            <a:noFill/>
          </a:ln>
        </p:spPr>
      </p:pic>
      <p:sp>
        <p:nvSpPr>
          <p:cNvPr id="200" name="Shape 10"/>
          <p:cNvSpPr/>
          <p:nvPr/>
        </p:nvSpPr>
        <p:spPr>
          <a:xfrm>
            <a:off x="777240" y="3383280"/>
            <a:ext cx="3748680" cy="2057040"/>
          </a:xfrm>
          <a:prstGeom prst="roundRect">
            <a:avLst>
              <a:gd name="adj" fmla="val 1778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01" name="Image 1" descr="/mnt/data/Save&amp;Exit.png"/>
          <p:cNvPicPr/>
          <p:nvPr/>
        </p:nvPicPr>
        <p:blipFill>
          <a:blip r:embed="rId4"/>
          <a:stretch/>
        </p:blipFill>
        <p:spPr>
          <a:xfrm>
            <a:off x="1413360" y="3456360"/>
            <a:ext cx="2476440" cy="1910880"/>
          </a:xfrm>
          <a:prstGeom prst="rect">
            <a:avLst/>
          </a:prstGeom>
          <a:ln w="0">
            <a:noFill/>
          </a:ln>
        </p:spPr>
      </p:pic>
      <p:sp>
        <p:nvSpPr>
          <p:cNvPr id="202" name="Text 11"/>
          <p:cNvSpPr/>
          <p:nvPr/>
        </p:nvSpPr>
        <p:spPr>
          <a:xfrm>
            <a:off x="6263640" y="3794760"/>
            <a:ext cx="4891680" cy="2057040"/>
          </a:xfrm>
          <a:prstGeom prst="roundRect">
            <a:avLst>
              <a:gd name="adj" fmla="val 2222"/>
            </a:avLst>
          </a:prstGeom>
          <a:solidFill>
            <a:srgbClr val="020617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60" b="0" strike="noStrike" spc="-1">
                <a:solidFill>
                  <a:srgbClr val="E2E8F0"/>
                </a:solidFill>
                <a:latin typeface="Consolas"/>
                <a:ea typeface="Consolas"/>
              </a:rPr>
              <a:t>while (fIn &gt;&gt; id) {</a:t>
            </a:r>
            <a:endParaRPr lang="en-US" sz="116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60" b="0" strike="noStrike" spc="-1">
                <a:solidFill>
                  <a:srgbClr val="E2E8F0"/>
                </a:solidFill>
                <a:latin typeface="Consolas"/>
                <a:ea typeface="Consolas"/>
              </a:rPr>
              <a:t>    fIn.ignore();</a:t>
            </a:r>
            <a:endParaRPr lang="en-US" sz="116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60" b="0" strike="noStrike" spc="-1">
                <a:solidFill>
                  <a:srgbClr val="E2E8F0"/>
                </a:solidFill>
                <a:latin typeface="Consolas"/>
                <a:ea typeface="Consolas"/>
              </a:rPr>
              <a:t>    getline(fIn, name, '#');</a:t>
            </a:r>
            <a:endParaRPr lang="en-US" sz="116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60" b="0" strike="noStrike" spc="-1">
                <a:solidFill>
                  <a:srgbClr val="E2E8F0"/>
                </a:solidFill>
                <a:latin typeface="Consolas"/>
                <a:ea typeface="Consolas"/>
              </a:rPr>
              <a:t>    fIn &gt;&gt; gpa;</a:t>
            </a:r>
            <a:endParaRPr lang="en-US" sz="116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60" b="0" strike="noStrike" spc="-1">
                <a:solidFill>
                  <a:srgbClr val="E2E8F0"/>
                </a:solidFill>
                <a:latin typeface="Consolas"/>
                <a:ea typeface="Consolas"/>
              </a:rPr>
              <a:t>}</a:t>
            </a:r>
            <a:endParaRPr lang="en-US" sz="116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16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60" b="0" strike="noStrike" spc="-1">
                <a:solidFill>
                  <a:srgbClr val="E2E8F0"/>
                </a:solidFill>
                <a:latin typeface="Consolas"/>
                <a:ea typeface="Consolas"/>
              </a:rPr>
              <a:t>fOut &lt;&lt; id &lt;&lt; " " &lt;&lt; name</a:t>
            </a:r>
            <a:endParaRPr lang="en-US" sz="116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60" b="0" strike="noStrike" spc="-1">
                <a:solidFill>
                  <a:srgbClr val="E2E8F0"/>
                </a:solidFill>
                <a:latin typeface="Consolas"/>
                <a:ea typeface="Consolas"/>
              </a:rPr>
              <a:t>     &lt;&lt; "#" &lt;&lt; gpa &lt;&lt; endl;</a:t>
            </a:r>
            <a:endParaRPr lang="en-US" sz="1160" b="0" strike="noStrike" spc="-1"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914400" y="5779080"/>
            <a:ext cx="685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64748B"/>
                </a:solidFill>
                <a:latin typeface="Arial"/>
                <a:ea typeface="Arial"/>
              </a:rPr>
              <a:t>Format: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1874520" y="57697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8BDF8"/>
                </a:solidFill>
                <a:latin typeface="Consolas"/>
                <a:ea typeface="Consolas"/>
              </a:rPr>
              <a:t>ID Name#GPA</a:t>
            </a:r>
            <a:endParaRPr lang="en-US" sz="13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6" name="Shape 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020617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7" name="Text 2"/>
          <p:cNvSpPr/>
          <p:nvPr/>
        </p:nvSpPr>
        <p:spPr>
          <a:xfrm>
            <a:off x="502920" y="23760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00" b="1" strike="noStrike" spc="-1">
                <a:solidFill>
                  <a:srgbClr val="F8FAFC"/>
                </a:solidFill>
                <a:latin typeface="Arial"/>
                <a:ea typeface="Arial"/>
              </a:rPr>
              <a:t>Demo Results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6080760" y="65844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BD5E1"/>
                </a:solidFill>
                <a:latin typeface="Arial"/>
                <a:ea typeface="Arial"/>
              </a:rPr>
              <a:t>Demo Screenshots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502920" y="960120"/>
            <a:ext cx="11155680" cy="360"/>
          </a:xfrm>
          <a:prstGeom prst="line">
            <a:avLst/>
          </a:prstGeom>
          <a:ln w="13970">
            <a:solidFill>
              <a:srgbClr val="38BDF8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Text 5"/>
          <p:cNvSpPr/>
          <p:nvPr/>
        </p:nvSpPr>
        <p:spPr>
          <a:xfrm>
            <a:off x="411480" y="660204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CS214 Project  •  Student Management System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1109960" y="66020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Arial"/>
                <a:ea typeface="Arial"/>
              </a:rPr>
              <a:t>8/8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594360" y="102420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BBF24"/>
                </a:solidFill>
                <a:latin typeface="Arial"/>
                <a:ea typeface="Arial"/>
              </a:rPr>
              <a:t>Screenshots from the running program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594360" y="1481400"/>
            <a:ext cx="3090240" cy="1965600"/>
          </a:xfrm>
          <a:prstGeom prst="roundRect">
            <a:avLst>
              <a:gd name="adj" fmla="val 1860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14" name="Image 0" descr="/mnt/data/Add.png"/>
          <p:cNvPicPr/>
          <p:nvPr/>
        </p:nvPicPr>
        <p:blipFill>
          <a:blip r:embed="rId3"/>
          <a:stretch/>
        </p:blipFill>
        <p:spPr>
          <a:xfrm>
            <a:off x="1531800" y="1554480"/>
            <a:ext cx="1215720" cy="1819440"/>
          </a:xfrm>
          <a:prstGeom prst="rect">
            <a:avLst/>
          </a:prstGeom>
          <a:ln w="0">
            <a:noFill/>
          </a:ln>
        </p:spPr>
      </p:pic>
      <p:sp>
        <p:nvSpPr>
          <p:cNvPr id="215" name="Shape 9"/>
          <p:cNvSpPr/>
          <p:nvPr/>
        </p:nvSpPr>
        <p:spPr>
          <a:xfrm>
            <a:off x="4160520" y="1481400"/>
            <a:ext cx="3090240" cy="1965600"/>
          </a:xfrm>
          <a:prstGeom prst="roundRect">
            <a:avLst>
              <a:gd name="adj" fmla="val 1860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16" name="Image 1" descr="/mnt/data/Print_All_Data.png"/>
          <p:cNvPicPr/>
          <p:nvPr/>
        </p:nvPicPr>
        <p:blipFill>
          <a:blip r:embed="rId4"/>
          <a:stretch/>
        </p:blipFill>
        <p:spPr>
          <a:xfrm>
            <a:off x="4543560" y="1554480"/>
            <a:ext cx="2324160" cy="1819440"/>
          </a:xfrm>
          <a:prstGeom prst="rect">
            <a:avLst/>
          </a:prstGeom>
          <a:ln w="0">
            <a:noFill/>
          </a:ln>
        </p:spPr>
      </p:pic>
      <p:sp>
        <p:nvSpPr>
          <p:cNvPr id="217" name="Shape 10"/>
          <p:cNvSpPr/>
          <p:nvPr/>
        </p:nvSpPr>
        <p:spPr>
          <a:xfrm>
            <a:off x="7726680" y="1481400"/>
            <a:ext cx="3090240" cy="1965600"/>
          </a:xfrm>
          <a:prstGeom prst="roundRect">
            <a:avLst>
              <a:gd name="adj" fmla="val 1860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18" name="Image 2" descr="/mnt/data/Edit.png"/>
          <p:cNvPicPr/>
          <p:nvPr/>
        </p:nvPicPr>
        <p:blipFill>
          <a:blip r:embed="rId5"/>
          <a:stretch/>
        </p:blipFill>
        <p:spPr>
          <a:xfrm>
            <a:off x="8622360" y="1554480"/>
            <a:ext cx="1298880" cy="1819440"/>
          </a:xfrm>
          <a:prstGeom prst="rect">
            <a:avLst/>
          </a:prstGeom>
          <a:ln w="0">
            <a:noFill/>
          </a:ln>
        </p:spPr>
      </p:pic>
      <p:sp>
        <p:nvSpPr>
          <p:cNvPr id="219" name="Shape 11"/>
          <p:cNvSpPr/>
          <p:nvPr/>
        </p:nvSpPr>
        <p:spPr>
          <a:xfrm>
            <a:off x="594360" y="3968640"/>
            <a:ext cx="3090240" cy="1965600"/>
          </a:xfrm>
          <a:prstGeom prst="roundRect">
            <a:avLst>
              <a:gd name="adj" fmla="val 1860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0" name="Image 3" descr="/mnt/data/Search.png"/>
          <p:cNvPicPr/>
          <p:nvPr/>
        </p:nvPicPr>
        <p:blipFill>
          <a:blip r:embed="rId6"/>
          <a:stretch/>
        </p:blipFill>
        <p:spPr>
          <a:xfrm>
            <a:off x="1008000" y="4041720"/>
            <a:ext cx="2262960" cy="1819440"/>
          </a:xfrm>
          <a:prstGeom prst="rect">
            <a:avLst/>
          </a:prstGeom>
          <a:ln w="0">
            <a:noFill/>
          </a:ln>
        </p:spPr>
      </p:pic>
      <p:sp>
        <p:nvSpPr>
          <p:cNvPr id="221" name="Shape 12"/>
          <p:cNvSpPr/>
          <p:nvPr/>
        </p:nvSpPr>
        <p:spPr>
          <a:xfrm>
            <a:off x="4160520" y="3968640"/>
            <a:ext cx="3090240" cy="1965600"/>
          </a:xfrm>
          <a:prstGeom prst="roundRect">
            <a:avLst>
              <a:gd name="adj" fmla="val 1860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2" name="Image 4" descr="/mnt/data/View_History.png"/>
          <p:cNvPicPr/>
          <p:nvPr/>
        </p:nvPicPr>
        <p:blipFill>
          <a:blip r:embed="rId7"/>
          <a:stretch/>
        </p:blipFill>
        <p:spPr>
          <a:xfrm>
            <a:off x="4585680" y="4041720"/>
            <a:ext cx="2240280" cy="1819440"/>
          </a:xfrm>
          <a:prstGeom prst="rect">
            <a:avLst/>
          </a:prstGeom>
          <a:ln w="0">
            <a:noFill/>
          </a:ln>
        </p:spPr>
      </p:pic>
      <p:sp>
        <p:nvSpPr>
          <p:cNvPr id="223" name="Shape 13"/>
          <p:cNvSpPr/>
          <p:nvPr/>
        </p:nvSpPr>
        <p:spPr>
          <a:xfrm>
            <a:off x="7726680" y="3968640"/>
            <a:ext cx="3090240" cy="1965600"/>
          </a:xfrm>
          <a:prstGeom prst="roundRect">
            <a:avLst>
              <a:gd name="adj" fmla="val 1860"/>
            </a:avLst>
          </a:prstGeom>
          <a:solidFill>
            <a:srgbClr val="020617"/>
          </a:solidFill>
          <a:ln w="1397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4" name="Image 5" descr="/mnt/data/Save&amp;Exit.png"/>
          <p:cNvPicPr/>
          <p:nvPr/>
        </p:nvPicPr>
        <p:blipFill>
          <a:blip r:embed="rId8"/>
          <a:stretch/>
        </p:blipFill>
        <p:spPr>
          <a:xfrm>
            <a:off x="8092800" y="4041720"/>
            <a:ext cx="2358000" cy="1819440"/>
          </a:xfrm>
          <a:prstGeom prst="rect">
            <a:avLst/>
          </a:prstGeom>
          <a:ln w="0">
            <a:noFill/>
          </a:ln>
        </p:spPr>
      </p:pic>
      <p:sp>
        <p:nvSpPr>
          <p:cNvPr id="225" name="Text 14"/>
          <p:cNvSpPr/>
          <p:nvPr/>
        </p:nvSpPr>
        <p:spPr>
          <a:xfrm>
            <a:off x="594360" y="349308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20" b="1" strike="noStrike" spc="-1">
                <a:solidFill>
                  <a:srgbClr val="38BDF8"/>
                </a:solidFill>
                <a:latin typeface="Arial"/>
                <a:ea typeface="Arial"/>
              </a:rPr>
              <a:t>Add Student</a:t>
            </a:r>
            <a:endParaRPr lang="en-US" sz="1020" b="0" strike="noStrike" spc="-1"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4160520" y="349308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20" b="1" strike="noStrike" spc="-1">
                <a:solidFill>
                  <a:srgbClr val="38BDF8"/>
                </a:solidFill>
                <a:latin typeface="Arial"/>
                <a:ea typeface="Arial"/>
              </a:rPr>
              <a:t>Print All</a:t>
            </a:r>
            <a:endParaRPr lang="en-US" sz="1020" b="0" strike="noStrike" spc="-1">
              <a:latin typeface="Arial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7726680" y="349308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20" b="1" strike="noStrike" spc="-1">
                <a:solidFill>
                  <a:srgbClr val="38BDF8"/>
                </a:solidFill>
                <a:latin typeface="Arial"/>
                <a:ea typeface="Arial"/>
              </a:rPr>
              <a:t>Edit</a:t>
            </a:r>
            <a:endParaRPr lang="en-US" sz="1020" b="0" strike="noStrike" spc="-1"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594360" y="598032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20" b="1" strike="noStrike" spc="-1">
                <a:solidFill>
                  <a:srgbClr val="38BDF8"/>
                </a:solidFill>
                <a:latin typeface="Arial"/>
                <a:ea typeface="Arial"/>
              </a:rPr>
              <a:t>Search</a:t>
            </a:r>
            <a:endParaRPr lang="en-US" sz="1020" b="0" strike="noStrike" spc="-1"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4160520" y="598032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20" b="1" strike="noStrike" spc="-1">
                <a:solidFill>
                  <a:srgbClr val="38BDF8"/>
                </a:solidFill>
                <a:latin typeface="Arial"/>
                <a:ea typeface="Arial"/>
              </a:rPr>
              <a:t>History</a:t>
            </a:r>
            <a:endParaRPr lang="en-US" sz="1020" b="0" strike="noStrike" spc="-1">
              <a:latin typeface="Arial"/>
            </a:endParaRPr>
          </a:p>
        </p:txBody>
      </p:sp>
      <p:sp>
        <p:nvSpPr>
          <p:cNvPr id="230" name="Text 19"/>
          <p:cNvSpPr/>
          <p:nvPr/>
        </p:nvSpPr>
        <p:spPr>
          <a:xfrm>
            <a:off x="7726680" y="5980320"/>
            <a:ext cx="3090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20" b="1" strike="noStrike" spc="-1">
                <a:solidFill>
                  <a:srgbClr val="38BDF8"/>
                </a:solidFill>
                <a:latin typeface="Arial"/>
                <a:ea typeface="Arial"/>
              </a:rPr>
              <a:t>Save &amp; Exit</a:t>
            </a:r>
            <a:endParaRPr lang="en-US" sz="1020" b="0" strike="noStrike" spc="-1">
              <a:latin typeface="Arial"/>
            </a:endParaRPr>
          </a:p>
        </p:txBody>
      </p:sp>
      <p:sp>
        <p:nvSpPr>
          <p:cNvPr id="231" name="Text 20"/>
          <p:cNvSpPr/>
          <p:nvPr/>
        </p:nvSpPr>
        <p:spPr>
          <a:xfrm>
            <a:off x="960120" y="6327720"/>
            <a:ext cx="10240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rtl="1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BD5E1"/>
                </a:solidFill>
                <a:latin typeface="Arial"/>
                <a:ea typeface="Arial"/>
              </a:rPr>
              <a:t>The program performs the main operations and saves changes to data.txt when exiting.</a:t>
            </a:r>
            <a:endParaRPr lang="en-US" sz="125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655</Words>
  <Application>Microsoft Office PowerPoint</Application>
  <PresentationFormat>Widescreen</PresentationFormat>
  <Paragraphs>169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Consolas</vt:lpstr>
      <vt:lpstr>DejaVu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>CS214 Project Presentation</dc:subject>
  <dc:creator>OpenAI</dc:creator>
  <dc:description/>
  <cp:lastModifiedBy>Majed ALrooqi</cp:lastModifiedBy>
  <cp:revision>3</cp:revision>
  <dcterms:created xsi:type="dcterms:W3CDTF">2026-05-02T17:03:38Z</dcterms:created>
  <dcterms:modified xsi:type="dcterms:W3CDTF">2026-05-02T18:47:03Z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